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0" y="731520"/>
            <a:ext cx="2377440" cy="2377440"/>
          </a:xfrm>
          <a:prstGeom prst="roundRect">
            <a:avLst/>
          </a:prstGeom>
          <a:solidFill>
            <a:srgbClr val="1A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1417320"/>
            <a:ext cx="1554480" cy="1554480"/>
          </a:xfrm>
          <a:prstGeom prst="roundRect">
            <a:avLst/>
          </a:prstGeom>
          <a:solidFill>
            <a:srgbClr val="20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1">
                <a:solidFill>
                  <a:srgbClr val="439BFF"/>
                </a:solidFill>
                <a:latin typeface="Aptos"/>
              </a:rPr>
              <a:t>TECHPULSE • APPLIED AI/ML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4200" b="1">
                <a:solidFill>
                  <a:srgbClr val="F4F7FB"/>
                </a:solidFill>
                <a:latin typeface="Aptos"/>
              </a:rPr>
              <a:t>AutoDoc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7863840" cy="5943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"/>
              </a:rPr>
              <a:t>Automotive Document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64992"/>
            <a:ext cx="713232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700" b="0">
                <a:solidFill>
                  <a:srgbClr val="B1BECF"/>
                </a:solidFill>
                <a:latin typeface="Aptos"/>
              </a:rPr>
              <a:t>Evidence-first search for automotive engineering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572000"/>
            <a:ext cx="1965960" cy="384048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PDF TEXT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572000"/>
            <a:ext cx="1737360" cy="384048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TF-IDF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7448" y="4572000"/>
            <a:ext cx="1691640" cy="384048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PAGE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89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Presenter: Kaavika Sri S.  |  CSE (AI &amp; 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00" b="1">
                <a:solidFill>
                  <a:srgbClr val="439BFF"/>
                </a:solidFill>
                <a:latin typeface="Aptos"/>
              </a:rPr>
              <a:t>01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Based on the AUTOSAR HLD Document Analysis Assistant case study.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58368" cy="45720"/>
          </a:xfrm>
          <a:prstGeom prst="rect">
            <a:avLst/>
          </a:prstGeom>
          <a:solidFill>
            <a:srgbClr val="4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257800" cy="34290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800" b="1">
                <a:solidFill>
                  <a:srgbClr val="439BFF"/>
                </a:solidFill>
                <a:latin typeface="Aptos Display"/>
              </a:rPr>
              <a:t>THE PROBLEM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F4F7FB"/>
                </a:solidFill>
                <a:latin typeface="Aptos"/>
              </a:rPr>
              <a:t>High-Level Design (HLD) documents can be lengthy and difficult to search manually.
Engineers need to locate components, interfaces, signals, dependencies and functional flows while retaining source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257800" cy="34290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800" b="1">
                <a:solidFill>
                  <a:srgbClr val="59DC9E"/>
                </a:solidFill>
                <a:latin typeface="Aptos Display"/>
              </a:rPr>
              <a:t>PROJECT OBJECTIVES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F4F7FB"/>
                </a:solidFill>
                <a:latin typeface="Aptos"/>
              </a:rPr>
              <a:t>• Reduce manual effort in document review
• Make technical content searchable
• Retrieve relevant passages for a question
• Show page references so users can verify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715000"/>
            <a:ext cx="106984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Target users: architects, developers, integration engineers and test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00" b="1">
                <a:solidFill>
                  <a:srgbClr val="439BFF"/>
                </a:solidFill>
                <a:latin typeface="Aptos"/>
              </a:rPr>
              <a:t>02 •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The current prototype retrieves evidence; it does not generate answers with an LLM.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58368" cy="45720"/>
          </a:xfrm>
          <a:prstGeom prst="rect">
            <a:avLst/>
          </a:prstGeom>
          <a:solidFill>
            <a:srgbClr val="4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00" b="1">
                <a:solidFill>
                  <a:srgbClr val="59DC9E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1737360" cy="2514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400" b="1">
                <a:solidFill>
                  <a:srgbClr val="439BFF"/>
                </a:solidFill>
                <a:latin typeface="Aptos Display"/>
              </a:rPr>
              <a:t>Upload PDF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F4F7FB"/>
                </a:solidFill>
                <a:latin typeface="Aptos"/>
              </a:rPr>
              <a:t>Select an automotive engineering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3246120"/>
            <a:ext cx="457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2200" b="1">
                <a:solidFill>
                  <a:srgbClr val="B1BECF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96596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00" b="1">
                <a:solidFill>
                  <a:srgbClr val="59DC9E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304288"/>
            <a:ext cx="1737360" cy="2514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400" b="1">
                <a:solidFill>
                  <a:srgbClr val="439BFF"/>
                </a:solidFill>
                <a:latin typeface="Aptos Display"/>
              </a:rPr>
              <a:t>Extract text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F4F7FB"/>
                </a:solidFill>
                <a:latin typeface="Aptos"/>
              </a:rPr>
              <a:t>PyMuPDF reads text and page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246120"/>
            <a:ext cx="457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2200" b="1">
                <a:solidFill>
                  <a:srgbClr val="B1BECF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96596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00" b="1">
                <a:solidFill>
                  <a:srgbClr val="59DC9E"/>
                </a:solidFill>
                <a:latin typeface="Aptos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304288"/>
            <a:ext cx="1737360" cy="2514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400" b="1">
                <a:solidFill>
                  <a:srgbClr val="439BFF"/>
                </a:solidFill>
                <a:latin typeface="Aptos Display"/>
              </a:rPr>
              <a:t>Prepare passages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F4F7FB"/>
                </a:solidFill>
                <a:latin typeface="Aptos"/>
              </a:rPr>
              <a:t>Clean text and divide it into searchable chunks.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3246120"/>
            <a:ext cx="457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2200" b="1">
                <a:solidFill>
                  <a:srgbClr val="B1BEC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6596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00" b="1">
                <a:solidFill>
                  <a:srgbClr val="59DC9E"/>
                </a:solidFill>
                <a:latin typeface="Aptos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304288"/>
            <a:ext cx="1737360" cy="2514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400" b="1">
                <a:solidFill>
                  <a:srgbClr val="439BFF"/>
                </a:solidFill>
                <a:latin typeface="Aptos Display"/>
              </a:rPr>
              <a:t>Rank evidence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F4F7FB"/>
                </a:solidFill>
                <a:latin typeface="Aptos"/>
              </a:rPr>
              <a:t>TF-IDF similarity ranks passages for the query.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246120"/>
            <a:ext cx="457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2200" b="1">
                <a:solidFill>
                  <a:srgbClr val="B1BECF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96596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00" b="1">
                <a:solidFill>
                  <a:srgbClr val="59DC9E"/>
                </a:solidFill>
                <a:latin typeface="Aptos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304288"/>
            <a:ext cx="1737360" cy="2514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400" b="1">
                <a:solidFill>
                  <a:srgbClr val="59DC9E"/>
                </a:solidFill>
                <a:latin typeface="Aptos Display"/>
              </a:rPr>
              <a:t>Verify sources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F4F7FB"/>
                </a:solidFill>
                <a:latin typeface="Aptos"/>
              </a:rPr>
              <a:t>Show passage text, page number and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Aptos"/>
              </a:rPr>
              <a:t>Human review remains essential: retrieved passages are evidence, not engineering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00" b="1">
                <a:solidFill>
                  <a:srgbClr val="439BFF"/>
                </a:solidFill>
                <a:latin typeface="Aptos"/>
              </a:rP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Lightweight prototype designed for a quick, demonstrable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58368" cy="45720"/>
          </a:xfrm>
          <a:prstGeom prst="rect">
            <a:avLst/>
          </a:prstGeom>
          <a:solidFill>
            <a:srgbClr val="4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439BFF"/>
                </a:solidFill>
                <a:latin typeface="Aptos Display"/>
              </a:rPr>
              <a:t>Python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Core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59DC9E"/>
                </a:solidFill>
                <a:latin typeface="Aptos Display"/>
              </a:rPr>
              <a:t>Streamlit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Interactive browser-based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05740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FFB74D"/>
                </a:solidFill>
                <a:latin typeface="Aptos Display"/>
              </a:rPr>
              <a:t>PyMuPDF (fitz)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PDF text extraction and page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439BFF"/>
                </a:solidFill>
                <a:latin typeface="Aptos Display"/>
              </a:rPr>
              <a:t>TF-IDF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Text-vector representation for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0332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59DC9E"/>
                </a:solidFill>
                <a:latin typeface="Aptos Display"/>
              </a:rPr>
              <a:t>Similarity ranking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Ranks passages against the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703320"/>
            <a:ext cx="342900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700" b="1">
                <a:solidFill>
                  <a:srgbClr val="FFB74D"/>
                </a:solidFill>
                <a:latin typeface="Aptos Display"/>
              </a:rPr>
              <a:t>Evidence display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Shows passages, source pages and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1078992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Current scope: retrieval-based search. No generative LLM, embeddings database or automated AUTOSAR validation is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00" b="1">
                <a:solidFill>
                  <a:srgbClr val="439BFF"/>
                </a:solidFill>
                <a:latin typeface="Aptos"/>
              </a:rPr>
              <a:t>04 •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Implementation &amp; observed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Tested with Automotive_Engineering_AI_Project_Case_Studies.pdf.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58368" cy="45720"/>
          </a:xfrm>
          <a:prstGeom prst="rect">
            <a:avLst/>
          </a:prstGeom>
          <a:solidFill>
            <a:srgbClr val="4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291840" cy="1371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2500" b="1">
                <a:solidFill>
                  <a:srgbClr val="439BFF"/>
                </a:solidFill>
                <a:latin typeface="Aptos Display"/>
              </a:rPr>
              <a:t>56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4F7FB"/>
                </a:solidFill>
                <a:latin typeface="Aptos"/>
              </a:rPr>
              <a:t>Searchable passages indexed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291840" cy="1371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2500" b="1">
                <a:solidFill>
                  <a:srgbClr val="59DC9E"/>
                </a:solidFill>
                <a:latin typeface="Aptos Display"/>
              </a:rPr>
              <a:t>26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4F7FB"/>
                </a:solidFill>
                <a:latin typeface="Aptos"/>
              </a:rPr>
              <a:t>Pages with extracted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965960"/>
            <a:ext cx="3291840" cy="137160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2200" b="1">
                <a:solidFill>
                  <a:srgbClr val="FFB74D"/>
                </a:solidFill>
                <a:latin typeface="Aptos Display"/>
              </a:rPr>
              <a:t>0.55 MB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4F7FB"/>
                </a:solidFill>
                <a:latin typeface="Aptos"/>
              </a:rPr>
              <a:t>Uploaded PDF size shown by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0058400" cy="2743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1">
                <a:solidFill>
                  <a:srgbClr val="439BFF"/>
                </a:solidFill>
                <a:latin typeface="Aptos"/>
              </a:rPr>
              <a:t>EXAMPLE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10789920" cy="13258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600" b="1">
                <a:solidFill>
                  <a:srgbClr val="59DC9E"/>
                </a:solidFill>
                <a:latin typeface="Aptos Display"/>
              </a:rPr>
              <a:t>“What are the objectives of the AUTOSAR HLD Document Analysis Assistant?”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4F7FB"/>
                </a:solidFill>
                <a:latin typeface="Aptos"/>
              </a:rPr>
              <a:t>The search returned a relevant passage on page 4 describing reduced manual review effort and a searchable architecture knowledge repository.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87568"/>
            <a:ext cx="10789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1">
                <a:solidFill>
                  <a:srgbClr val="FFB74D"/>
                </a:solidFill>
                <a:latin typeface="Aptos"/>
              </a:rPr>
              <a:t>Observed limitation: metadata may rank highly; retrieval relevance can be improved further.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00" b="1">
                <a:solidFill>
                  <a:srgbClr val="439BFF"/>
                </a:solidFill>
                <a:latin typeface="Aptos"/>
              </a:rPr>
              <a:t>05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The prototype is an initial proof of concept, not a production engineering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58368" cy="45720"/>
          </a:xfrm>
          <a:prstGeom prst="rect">
            <a:avLst/>
          </a:prstGeom>
          <a:solidFill>
            <a:srgbClr val="4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1">
                <a:solidFill>
                  <a:srgbClr val="B1BEC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57800" cy="33832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800" b="1">
                <a:solidFill>
                  <a:srgbClr val="FFB74D"/>
                </a:solidFill>
                <a:latin typeface="Aptos Display"/>
              </a:rPr>
              <a:t>CURRENT LIMITATIONS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4F7FB"/>
                </a:solidFill>
                <a:latin typeface="Aptos"/>
              </a:rPr>
              <a:t>• Retrieval quality is imperfect
• Results may include headers or metadata
• It does not generate natural-language answers
• It does not validate architecture or approve safety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257800" cy="3383280"/>
          </a:xfrm>
          <a:prstGeom prst="roundRect">
            <a:avLst/>
          </a:prstGeom>
          <a:solidFill>
            <a:srgbClr val="1A2331"/>
          </a:solidFill>
          <a:ln>
            <a:solidFill>
              <a:srgbClr val="20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91440"/>
          <a:lstStyle/>
          <a:p>
            <a:pPr algn="ctr"/>
            <a:r>
              <a:rPr sz="1800" b="1">
                <a:solidFill>
                  <a:srgbClr val="59DC9E"/>
                </a:solidFill>
                <a:latin typeface="Aptos Display"/>
              </a:rPr>
              <a:t>FUTURE ENHANCEMENTS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4F7FB"/>
                </a:solidFill>
                <a:latin typeface="Aptos"/>
              </a:rPr>
              <a:t>• Improve cleaning and chunk boundaries
• Add embedding-based semantic retrieval
• Add evidence-grounded answer generation with citations
• Extract component/interface details and compare revisions
• Evaluate relevance using a test-question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4243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200" b="0">
                <a:solidFill>
                  <a:srgbClr val="B1BECF"/>
                </a:solidFill>
                <a:latin typeface="Aptos"/>
              </a:rPr>
              <a:t>Design principle: keep findings traceable to source documents and require engineer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AutoDoc AI — Automotive Document Assistant</dc:title>
  <dc:subject>TechPulse Applied AI/ML Capstone Evaluation</dc:subject>
  <dc:creator>Kaavika Sri S.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